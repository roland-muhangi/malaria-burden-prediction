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hUqjZIUORJmwIqt6py8RfXsm9v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68f5b8287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f68f5b8287_2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f68f5b8287_2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68f5b8287_2_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3f68f5b8287_2_0"/>
          <p:cNvSpPr/>
          <p:nvPr/>
        </p:nvSpPr>
        <p:spPr>
          <a:xfrm>
            <a:off x="641708" y="197125"/>
            <a:ext cx="6583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Roland Muhangi - ML Project Dataset Proposal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t/>
            </a:r>
            <a:endParaRPr b="1" sz="28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8;g3f68f5b8287_2_0"/>
          <p:cNvSpPr/>
          <p:nvPr/>
        </p:nvSpPr>
        <p:spPr>
          <a:xfrm>
            <a:off x="274320" y="1005840"/>
            <a:ext cx="1920240" cy="274320"/>
          </a:xfrm>
          <a:prstGeom prst="roundRect">
            <a:avLst>
              <a:gd fmla="val 13333" name="adj"/>
            </a:avLst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g3f68f5b8287_2_0"/>
          <p:cNvSpPr/>
          <p:nvPr/>
        </p:nvSpPr>
        <p:spPr>
          <a:xfrm>
            <a:off x="274320" y="10058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f68f5b8287_2_0"/>
          <p:cNvSpPr/>
          <p:nvPr/>
        </p:nvSpPr>
        <p:spPr>
          <a:xfrm>
            <a:off x="274320" y="1344168"/>
            <a:ext cx="8595360" cy="914400"/>
          </a:xfrm>
          <a:prstGeom prst="roundRect">
            <a:avLst>
              <a:gd fmla="val 7000" name="adj"/>
            </a:avLst>
          </a:prstGeom>
          <a:solidFill>
            <a:srgbClr val="E8F8F5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f68f5b8287_2_0"/>
          <p:cNvSpPr/>
          <p:nvPr/>
        </p:nvSpPr>
        <p:spPr>
          <a:xfrm>
            <a:off x="411480" y="1371600"/>
            <a:ext cx="8321040" cy="85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Predict whether a Sub-Saharan African country will face </a:t>
            </a: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high malaria burden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in a given year enabling early resource allocation for medicines, bed nets, and health worker deployment.</a:t>
            </a:r>
            <a:b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Task: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Supervised Binary Classification   |   </a:t>
            </a: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Target: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high_burden  =  1  (above SSA median incidence)  or   0  (at or below median)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g3f68f5b8287_2_0"/>
          <p:cNvSpPr/>
          <p:nvPr/>
        </p:nvSpPr>
        <p:spPr>
          <a:xfrm>
            <a:off x="274320" y="2350008"/>
            <a:ext cx="1737360" cy="274320"/>
          </a:xfrm>
          <a:prstGeom prst="roundRect">
            <a:avLst>
              <a:gd fmla="val 13333" name="adj"/>
            </a:avLst>
          </a:prstGeom>
          <a:solidFill>
            <a:srgbClr val="0E6655"/>
          </a:solidFill>
          <a:ln cap="flat" cmpd="sng" w="12700">
            <a:solidFill>
              <a:srgbClr val="0E66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g3f68f5b8287_2_0"/>
          <p:cNvSpPr/>
          <p:nvPr/>
        </p:nvSpPr>
        <p:spPr>
          <a:xfrm>
            <a:off x="274320" y="235000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g3f68f5b8287_2_0"/>
          <p:cNvSpPr/>
          <p:nvPr/>
        </p:nvSpPr>
        <p:spPr>
          <a:xfrm>
            <a:off x="274320" y="2697480"/>
            <a:ext cx="2697480" cy="841248"/>
          </a:xfrm>
          <a:prstGeom prst="roundRect">
            <a:avLst>
              <a:gd fmla="val 7609" name="adj"/>
            </a:avLst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  <a:effectLst>
            <a:outerShdw blurRad="806450025" rotWithShape="0" algn="bl" dist="322580000">
              <a:srgbClr val="000000">
                <a:alpha val="9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g3f68f5b8287_2_0"/>
          <p:cNvSpPr/>
          <p:nvPr/>
        </p:nvSpPr>
        <p:spPr>
          <a:xfrm>
            <a:off x="274320" y="2724912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~1,000+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f68f5b8287_2_0"/>
          <p:cNvSpPr/>
          <p:nvPr/>
        </p:nvSpPr>
        <p:spPr>
          <a:xfrm>
            <a:off x="274320" y="3163824"/>
            <a:ext cx="2697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Rows </a:t>
            </a:r>
            <a:r>
              <a:rPr lang="en-US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47 countries × ~22 years (2000–2022)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g3f68f5b8287_2_0"/>
          <p:cNvSpPr/>
          <p:nvPr/>
        </p:nvSpPr>
        <p:spPr>
          <a:xfrm>
            <a:off x="3172968" y="2697480"/>
            <a:ext cx="2697480" cy="841248"/>
          </a:xfrm>
          <a:prstGeom prst="roundRect">
            <a:avLst>
              <a:gd fmla="val 7609" name="adj"/>
            </a:avLst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  <a:effectLst>
            <a:outerShdw blurRad="10241915250000" rotWithShape="0" algn="bl" dist="-632800384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f68f5b8287_2_0"/>
          <p:cNvSpPr/>
          <p:nvPr/>
        </p:nvSpPr>
        <p:spPr>
          <a:xfrm>
            <a:off x="3172968" y="2724912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f68f5b8287_2_0"/>
          <p:cNvSpPr/>
          <p:nvPr/>
        </p:nvSpPr>
        <p:spPr>
          <a:xfrm>
            <a:off x="3172968" y="3163824"/>
            <a:ext cx="2697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Features </a:t>
            </a:r>
            <a:r>
              <a:rPr lang="en-US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Incidence, mortality, ITN coverage + lag 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f68f5b8287_2_0"/>
          <p:cNvSpPr/>
          <p:nvPr/>
        </p:nvSpPr>
        <p:spPr>
          <a:xfrm>
            <a:off x="6071616" y="2697480"/>
            <a:ext cx="2697480" cy="841248"/>
          </a:xfrm>
          <a:prstGeom prst="roundRect">
            <a:avLst>
              <a:gd fmla="val 7609" name="adj"/>
            </a:avLst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  <a:effectLst>
            <a:outerShdw blurRad="130072320000000000" rotWithShape="0" algn="bl" dist="-681065984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68f5b8287_2_0"/>
          <p:cNvSpPr/>
          <p:nvPr/>
        </p:nvSpPr>
        <p:spPr>
          <a:xfrm>
            <a:off x="6071616" y="2724912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f68f5b8287_2_0"/>
          <p:cNvSpPr/>
          <p:nvPr/>
        </p:nvSpPr>
        <p:spPr>
          <a:xfrm>
            <a:off x="6071616" y="3163824"/>
            <a:ext cx="2697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Source files </a:t>
            </a:r>
            <a:r>
              <a:rPr lang="en-US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Incidence · Deaths · Bed net coverage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g3f68f5b8287_2_0"/>
          <p:cNvSpPr/>
          <p:nvPr/>
        </p:nvSpPr>
        <p:spPr>
          <a:xfrm>
            <a:off x="274320" y="3621024"/>
            <a:ext cx="8595360" cy="475488"/>
          </a:xfrm>
          <a:prstGeom prst="roundRect">
            <a:avLst>
              <a:gd fmla="val 9615" name="adj"/>
            </a:avLst>
          </a:prstGeom>
          <a:solidFill>
            <a:srgbClr val="FFF8E1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68f5b8287_2_0"/>
          <p:cNvSpPr/>
          <p:nvPr/>
        </p:nvSpPr>
        <p:spPr>
          <a:xfrm>
            <a:off x="411480" y="3621024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0" i="0" lang="en-US" sz="11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Our World in Data  Malaria Indicators (based on WHO Global Health Observatory &amp; Global Burden of Disease Study data). Publicly available, no login required. Uganda is included in the dataset alongside 46 other Sub-Saharan African countries.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g3f68f5b8287_2_0"/>
          <p:cNvSpPr/>
          <p:nvPr/>
        </p:nvSpPr>
        <p:spPr>
          <a:xfrm>
            <a:off x="804672" y="4846320"/>
            <a:ext cx="34290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f68f5b8287_2_0"/>
          <p:cNvSpPr/>
          <p:nvPr/>
        </p:nvSpPr>
        <p:spPr>
          <a:xfrm>
            <a:off x="5148072" y="4590288"/>
            <a:ext cx="3429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655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f68f5b8287_2_0"/>
          <p:cNvSpPr/>
          <p:nvPr/>
        </p:nvSpPr>
        <p:spPr>
          <a:xfrm>
            <a:off x="5148072" y="4846320"/>
            <a:ext cx="34290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3f68f5b8287_2_0"/>
          <p:cNvSpPr/>
          <p:nvPr/>
        </p:nvSpPr>
        <p:spPr>
          <a:xfrm>
            <a:off x="274320" y="5376672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2026-07-10T09:59:39Z</dcterms:created>
  <dc:creator>PptxGenJS</dc:creator>
</cp:coreProperties>
</file>